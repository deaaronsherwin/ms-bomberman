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7" r:id="rId6"/>
    <p:sldId id="277" r:id="rId7"/>
    <p:sldId id="278" r:id="rId8"/>
    <p:sldId id="279" r:id="rId9"/>
    <p:sldId id="280" r:id="rId10"/>
    <p:sldId id="273" r:id="rId11"/>
    <p:sldId id="281" r:id="rId12"/>
    <p:sldId id="282" r:id="rId13"/>
    <p:sldId id="283" r:id="rId14"/>
    <p:sldId id="276" r:id="rId15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598" autoAdjust="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026C9-4C52-4B60-A858-A50E4BE5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60113-35DB-4BB4-9269-631D6FEB5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B07DD3-8E0C-4A50-B5FE-ABD362AD454B}" type="datetime1">
              <a:rPr lang="en-GB" smtClean="0"/>
              <a:t>03/08/2025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0E5BB-A291-4B94-8433-B9D3F1685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7D678-038E-42A6-961E-EAB034DB4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DE7DFA-63CC-4ED7-B30E-ACF88B4B8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0912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ED090A-610C-4D83-921E-93394EF804D0}" type="datetime1">
              <a:rPr lang="en-GB" noProof="0" smtClean="0"/>
              <a:t>03/08/2025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8C5307-140F-447F-BCBA-BB92E3A2906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331543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897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359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0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867E-DACE-D4F1-B613-FD4C4D5F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BD746-D42C-8E76-E554-A0BD04FE7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02A4D-1E6F-3ECF-EE7F-7668677AE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9AE6-0D72-C107-13DC-9F515ECCC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791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8C5307-140F-447F-BCBA-BB92E3A2906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07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FD2957-8595-499F-896A-E9A0888D0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4A184-010C-483F-8B5A-3D1E7E6E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8115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82A2E2-E6DD-4321-B03A-F6C071C1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753034"/>
            <a:ext cx="6815446" cy="3887390"/>
          </a:xfrm>
        </p:spPr>
        <p:txBody>
          <a:bodyPr rtlCol="0" anchor="t">
            <a:normAutofit/>
          </a:bodyPr>
          <a:lstStyle>
            <a:lvl1pPr>
              <a:defRPr sz="8500"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21B6D9B-E3FB-48D2-A477-5B73E221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4640424"/>
            <a:ext cx="6437555" cy="13031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38823550-6B12-4BFD-9C91-668B623E35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3533" y="0"/>
            <a:ext cx="4082983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4716EF3-1422-48C0-BC49-14FAC3550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rtlCol="0" anchor="b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>
                <a:solidFill>
                  <a:srgbClr val="FFFFFF"/>
                </a:solidFill>
              </a:rPr>
              <a:t>Click to edit Master title style</a:t>
            </a:r>
            <a:endParaRPr lang="en-GB" noProof="0" dirty="0">
              <a:solidFill>
                <a:srgbClr val="FFFFFF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46F5EF-2C45-4A87-A1DD-BD2A6FB9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374904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 dirty="0"/>
              <a:t>Presentation title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4038600" cy="3429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7B51DFB6-C977-4551-BE38-57688D7FF0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5300" y="0"/>
            <a:ext cx="4076701" cy="3429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4100" y="3841750"/>
            <a:ext cx="6599238" cy="2296083"/>
          </a:xfrm>
        </p:spPr>
        <p:txBody>
          <a:bodyPr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</a:lstStyle>
          <a:p>
            <a:pPr lvl="0" rtl="0"/>
            <a:r>
              <a:rPr lang="en-GB" noProof="0" dirty="0"/>
              <a:t>Click to add text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188F17E-DD3B-4CCC-957F-5A691448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0235C7-971D-4E52-B991-EFA44A9A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815C-8BF3-4ECF-A945-A2A7C2983AF9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3698AF-A86A-4D69-8272-76C9C191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E2DC86-4009-449C-8F4E-779A8C762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9523655" cy="1501327"/>
          </a:xfrm>
        </p:spPr>
        <p:txBody>
          <a:bodyPr rtlCol="0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>
                <a:solidFill>
                  <a:srgbClr val="FFFFFF"/>
                </a:solidFill>
              </a:rPr>
              <a:t>Click to edit Master title style</a:t>
            </a:r>
            <a:endParaRPr lang="en-GB" noProof="0">
              <a:solidFill>
                <a:srgbClr val="FFFFFF"/>
              </a:solidFill>
            </a:endParaRP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71630E1-6506-4E93-BB6A-0604E0D049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286000"/>
            <a:ext cx="5067300" cy="4572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1BAB65B-02AF-4992-85D0-8E98AB1B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E115BC-4A4C-4385-82D5-106D1FAC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887" y="2899186"/>
            <a:ext cx="5610113" cy="3284359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CD3EB2B-80EF-4DC6-B2B6-F4B56844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C3E33A-8A0A-4767-A4D9-CD895637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D940D-6D44-4DF9-9322-B4B11F7EDCD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6EB31F-C5DF-49FF-8DEA-86AC0C1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7086599" cy="453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FE912F-46EC-49B0-9C9A-DE9CBDF9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5" y="753035"/>
            <a:ext cx="5945393" cy="2366683"/>
          </a:xfrm>
        </p:spPr>
        <p:txBody>
          <a:bodyPr rtlCol="0">
            <a:normAutofit/>
          </a:bodyPr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sz="6000" noProof="0"/>
              <a:t>Click to edit Master title style</a:t>
            </a:r>
            <a:endParaRPr lang="en-GB" sz="6000" noProof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F32D81-1E24-45B8-A09D-EEAD404D8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3075868"/>
            <a:ext cx="5945393" cy="1108335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C7900-0694-4FDF-B29C-24016C0B9C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533900"/>
            <a:ext cx="7086598" cy="2324100"/>
          </a:xfrm>
        </p:spPr>
        <p:txBody>
          <a:bodyPr rtlCol="0"/>
          <a:lstStyle>
            <a:lvl1pPr marL="0" indent="0" algn="l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F1BABA-5C8C-4693-BD5A-974A171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n-GB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D71BA6F2-2182-4910-8DA6-71E5AB2745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86600" y="0"/>
            <a:ext cx="5105400" cy="45339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83DCD7D2-7B94-48E9-9DCA-E72E1BCE43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6598" y="4533900"/>
            <a:ext cx="5105402" cy="23241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253B29-520A-4014-A821-4F52F57C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n-GB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B60DEE-1456-46C0-A3E5-4CAF3E12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fld id="{2722F022-211C-4882-844C-086FEA6806AA}" type="slidenum">
              <a:rPr lang="en-GB" noProof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‹#›</a:t>
            </a:fld>
            <a:endParaRPr lang="en-GB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F4DD58-525D-4728-A769-9F38711D5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862FE-7A72-432B-9888-FB389D35B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8" y="875030"/>
            <a:ext cx="2384425" cy="5068570"/>
          </a:xfrm>
        </p:spPr>
        <p:txBody>
          <a:bodyPr rtlCol="0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 to add text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256B58A-EC2F-48AB-BF2D-AB678AF0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277113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3DA1-34CB-434E-99AF-EA31D28A194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02000" y="876300"/>
            <a:ext cx="8607425" cy="4749800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B48D9BB-04DF-4542-8DF6-C4C78753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2742E1-6009-4FFB-A391-37B987F5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3FEABB-56CC-491D-830B-02C0466D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F3EF5A-453C-4D68-BA86-2FB1DE61C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7" y="996950"/>
            <a:ext cx="2384425" cy="4946650"/>
          </a:xfrm>
        </p:spPr>
        <p:txBody>
          <a:bodyPr rtlCol="0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 to add text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9321BA0-41E1-404D-9063-DF281D18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277113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CEA4-8F84-4893-8A45-28DB0AE2068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2650" y="996950"/>
            <a:ext cx="8367713" cy="454501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99D2EA6-8453-4240-88D1-460E269D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DD4984-9B40-488F-B903-2E041955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AD3C5B21-C400-4C50-8684-59543CDC4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6858000"/>
          </a:xfrm>
          <a:noFill/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636" y="-2"/>
            <a:ext cx="11014364" cy="4100947"/>
          </a:xfrm>
          <a:gradFill>
            <a:gsLst>
              <a:gs pos="77000">
                <a:srgbClr val="000000">
                  <a:alpha val="30000"/>
                </a:srgbClr>
              </a:gs>
              <a:gs pos="38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rIns="731520" rtlCol="0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en-US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  <a:endParaRPr lang="en-GB" noProof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41A6711-44B3-4723-90E5-802B2DBD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1963" y="4089656"/>
            <a:ext cx="8950035" cy="2796566"/>
          </a:xfrm>
          <a:gradFill>
            <a:gsLst>
              <a:gs pos="77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tIns="640080" rIns="731520" rtlCol="0" anchor="t">
            <a:normAutofit/>
          </a:bodyPr>
          <a:lstStyle>
            <a:lvl1pPr marL="0" indent="0" algn="r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en-US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subtitle style</a:t>
            </a:r>
            <a:endParaRPr lang="en-GB" noProof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79A2161-66FE-4C11-AD83-5824307C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n-GB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title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1399727-F37D-4748-90E8-B5B6F531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en-GB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9DE4FD1-0950-4A6A-8167-F0E9C622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fld id="{CD6D940D-6D44-4DF9-9322-B4B11F7EDCD0}" type="slidenum">
              <a:rPr lang="en-GB" noProof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‹#›</a:t>
            </a:fld>
            <a:endParaRPr lang="en-GB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42DEE-636F-4A79-B56A-5AF989E1F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5C9195-04C9-4D9A-B613-44A5F5900D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983" y="194783"/>
            <a:ext cx="9421177" cy="769493"/>
          </a:xfrm>
        </p:spPr>
        <p:txBody>
          <a:bodyPr rtlCol="0" anchor="ctr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5A662A-E279-494E-8389-ADC6E870E3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31863" y="1695450"/>
            <a:ext cx="10328275" cy="4314825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20B3F9-9DEF-4500-91D7-25F0B5E9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E504E9-EAD2-4BE5-9736-CED43FF2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B613-AF5E-423F-A78B-94F856BF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F922A0-5527-4314-A2EA-E5CF34EF9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6EC4CB6-956E-48EB-86AC-B40D89D74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759" y="194783"/>
            <a:ext cx="10022841" cy="760892"/>
          </a:xfrm>
        </p:spPr>
        <p:txBody>
          <a:bodyPr rtlCol="0" anchor="ctr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FA4250-BD33-40AE-934A-A473029C5CA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6112" y="1560513"/>
            <a:ext cx="10899776" cy="4341812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71E7CA1-3FAA-4961-8BAC-93AB2EF6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0CC547-8B7E-4C4B-9B2A-04BD498A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4245B-9DC4-457D-AB68-8E3BBB85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9680" y="190500"/>
            <a:ext cx="10036292" cy="773776"/>
          </a:xfrm>
        </p:spPr>
        <p:txBody>
          <a:bodyPr rtlCol="0" anchor="ctr"/>
          <a:lstStyle>
            <a:lvl1pPr algn="r"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7F0BA818-CA3B-46FD-9A79-7BDC1D9CA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43" y="1764139"/>
            <a:ext cx="4756714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EAD007E-B9BB-4C9F-BDC8-127A77F0F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243" y="2374900"/>
            <a:ext cx="4756714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9ECBA1DE-781A-4AA7-86CA-0EBE52A9B4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7467" y="1764031"/>
            <a:ext cx="4756714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53A9CA10-3BBC-41E7-A34E-C6CCFEC8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7467" y="2374900"/>
            <a:ext cx="4756714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5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97352E-C52D-43BE-BCE2-2D71FE03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2051A8D-592F-40C1-A65D-E1F17B07C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79600" y="183988"/>
            <a:ext cx="9406372" cy="803380"/>
          </a:xfrm>
        </p:spPr>
        <p:txBody>
          <a:bodyPr rtlCol="0" anchor="ctr"/>
          <a:lstStyle>
            <a:lvl1pPr algn="r"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F4C4703-C9D4-483C-8E41-17BB7193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1300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1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B205DED-723B-48E3-AE9F-55669622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2317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7D63D24-8466-44F3-898F-5CBC42C768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2317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F600D1D1-B6A8-4A4E-BC6A-897FE089C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393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05F643-67E9-4E41-A65F-163C81609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53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EF04CC-F1B1-495C-BA2F-F28A5D97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5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57B66A6-EBC5-4A75-B938-7148B7A1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en-GB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3DD707-C769-4868-9B2F-1BF7ABBC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52F41C-45C5-4E09-A91A-8F4AE80B0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33900"/>
            <a:ext cx="9144000" cy="23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A9EBEF3-E8A8-4C5C-B6D9-B322242DC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01" y="4947313"/>
            <a:ext cx="7700617" cy="1409037"/>
          </a:xfrm>
        </p:spPr>
        <p:txBody>
          <a:bodyPr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sz="5400" noProof="0"/>
              <a:t>Click to edit Master title style</a:t>
            </a:r>
            <a:endParaRPr lang="en-GB" sz="5400" noProof="0"/>
          </a:p>
        </p:txBody>
      </p:sp>
      <p:sp>
        <p:nvSpPr>
          <p:cNvPr id="11" name="Subtitle 7">
            <a:extLst>
              <a:ext uri="{FF2B5EF4-FFF2-40B4-BE49-F238E27FC236}">
                <a16:creationId xmlns:a16="http://schemas.microsoft.com/office/drawing/2014/main" id="{6A90C83B-4674-4CF1-9CD4-78C3B7CDC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252" y="386989"/>
            <a:ext cx="2443495" cy="3758334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>
                <a:solidFill>
                  <a:schemeClr val="accent1"/>
                </a:solidFill>
              </a:rPr>
              <a:t>Click to edit Master subtitle style</a:t>
            </a:r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1894E094-44B9-4024-A43A-438DEB225D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532313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BCFB5F5-AD25-4F9C-8AE7-E0E891F1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919568B3-FE67-4E6E-BA92-FEF29CBFE1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0" y="4532313"/>
            <a:ext cx="3048000" cy="2325687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to add photo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87D4A75-1737-4D5B-A386-9FE32DFB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B52AA41-FD0C-42C6-BD04-9E5B55A4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244D815C-8BF3-4ECF-A945-A2A7C2983AF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467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sz="1050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pPr rtl="0"/>
            <a:fld id="{0D4885A8-DDA8-4FCF-AB25-DA8F78EC7557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D150CF-F888-48EA-89E8-311ED5E91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753034"/>
            <a:ext cx="6815446" cy="3887390"/>
          </a:xfrm>
        </p:spPr>
        <p:txBody>
          <a:bodyPr rtlCol="0"/>
          <a:lstStyle/>
          <a:p>
            <a:pPr rtl="0"/>
            <a:r>
              <a:rPr lang="en-GB" dirty="0"/>
              <a:t>Retro Game Clone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BBE0348-1527-4055-BA8A-E27542227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4640424"/>
            <a:ext cx="6437555" cy="1303176"/>
          </a:xfrm>
        </p:spPr>
        <p:txBody>
          <a:bodyPr rtlCol="0"/>
          <a:lstStyle/>
          <a:p>
            <a:pPr rtl="0"/>
            <a:r>
              <a:rPr lang="en-GB" dirty="0"/>
              <a:t>Aaren Sherwin – ASSR1</a:t>
            </a:r>
          </a:p>
        </p:txBody>
      </p:sp>
      <p:pic>
        <p:nvPicPr>
          <p:cNvPr id="3" name="Picture 2" descr="A yellow and blue logo&#10;&#10;AI-generated content may be incorrect.">
            <a:extLst>
              <a:ext uri="{FF2B5EF4-FFF2-40B4-BE49-F238E27FC236}">
                <a16:creationId xmlns:a16="http://schemas.microsoft.com/office/drawing/2014/main" id="{50A1A0B9-7BFC-4ECC-D26A-9BFCCF1AF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64" y="3194216"/>
            <a:ext cx="6194516" cy="1718978"/>
          </a:xfrm>
          <a:prstGeom prst="rect">
            <a:avLst/>
          </a:prstGeom>
        </p:spPr>
      </p:pic>
      <p:pic>
        <p:nvPicPr>
          <p:cNvPr id="10" name="Picture Placeholder 9" descr="Cartoon character in a space suit&#10;&#10;AI-generated content may be incorrect.">
            <a:extLst>
              <a:ext uri="{FF2B5EF4-FFF2-40B4-BE49-F238E27FC236}">
                <a16:creationId xmlns:a16="http://schemas.microsoft.com/office/drawing/2014/main" id="{626CCF19-E1AF-B791-1BF2-B90DF665F9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16949" r="16949"/>
          <a:stretch>
            <a:fillRect/>
          </a:stretch>
        </p:blipFill>
        <p:spPr>
          <a:xfrm>
            <a:off x="8109017" y="-559558"/>
            <a:ext cx="4082983" cy="7874758"/>
          </a:xfrm>
        </p:spPr>
      </p:pic>
    </p:spTree>
    <p:extLst>
      <p:ext uri="{BB962C8B-B14F-4D97-AF65-F5344CB8AC3E}">
        <p14:creationId xmlns:p14="http://schemas.microsoft.com/office/powerpoint/2010/main" val="272071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9523655" cy="1501327"/>
          </a:xfrm>
        </p:spPr>
        <p:txBody>
          <a:bodyPr rtlCol="0"/>
          <a:lstStyle/>
          <a:p>
            <a:pPr rtl="0"/>
            <a:r>
              <a:rPr lang="en-GB" dirty="0"/>
              <a:t>Aim of the project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DA17F-F303-4811-96C4-AD8A09AB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B6583FE-B653-4C01-9ADF-EC8514A0B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887" y="2899186"/>
            <a:ext cx="5610113" cy="3284359"/>
          </a:xfrm>
        </p:spPr>
        <p:txBody>
          <a:bodyPr rtlCol="0">
            <a:normAutofit fontScale="92500" lnSpcReduction="20000"/>
          </a:bodyPr>
          <a:lstStyle/>
          <a:p>
            <a:r>
              <a:rPr lang="en-GB" dirty="0"/>
              <a:t>The aim of the project is to bring an old game into the modern world. Fully re-implementing the original game might not be feasible in the time of the project. The new clone should stay close to key features of original. In addition, a modern twist should be added. This twist could include multiplayer options, online high scores, toggles between classic and modern graphics, save games, level editors.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5CF6D-DC44-4734-988C-0AAA60D5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/>
          <a:p>
            <a:pPr lvl="0" rtl="0"/>
            <a:r>
              <a:rPr lang="en-GB" dirty="0"/>
              <a:t>assr1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8B9AF-847F-4250-A53B-82D9036A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lvl="0" rtl="0"/>
            <a:fld id="{244D815C-8BF3-4ECF-A945-A2A7C2983AF9}" type="slidenum">
              <a:rPr lang="en-GB" smtClean="0"/>
              <a:pPr lvl="0" rtl="0"/>
              <a:t>2</a:t>
            </a:fld>
            <a:endParaRPr lang="en-GB"/>
          </a:p>
        </p:txBody>
      </p:sp>
      <p:pic>
        <p:nvPicPr>
          <p:cNvPr id="13" name="Picture Placeholder 12" descr="A cartoon of a robot with a green monster&#10;&#10;AI-generated content may be incorrect.">
            <a:extLst>
              <a:ext uri="{FF2B5EF4-FFF2-40B4-BE49-F238E27FC236}">
                <a16:creationId xmlns:a16="http://schemas.microsoft.com/office/drawing/2014/main" id="{D3E822B1-2FBD-D4BB-DC09-67EF7EF07D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8843" r="1884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7475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F5E9E74-6A15-CD8E-734E-6399CF3D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983" y="194783"/>
            <a:ext cx="9421177" cy="769493"/>
          </a:xfrm>
        </p:spPr>
        <p:txBody>
          <a:bodyPr>
            <a:normAutofit fontScale="90000"/>
          </a:bodyPr>
          <a:lstStyle/>
          <a:p>
            <a:r>
              <a:rPr lang="en-US" dirty="0"/>
              <a:t>Essential Requirements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928E732-964A-C2DE-3224-BB57280C9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31863" y="1695450"/>
            <a:ext cx="10328275" cy="4314825"/>
          </a:xfrm>
        </p:spPr>
        <p:txBody>
          <a:bodyPr/>
          <a:lstStyle/>
          <a:p>
            <a:r>
              <a:rPr lang="en-GB" b="1" dirty="0"/>
              <a:t>Single-Player Controls &amp; Bomb Placement:</a:t>
            </a:r>
            <a:r>
              <a:rPr lang="en-GB" dirty="0"/>
              <a:t> One player can move on the grid and place bombs that detonate after a timer.</a:t>
            </a:r>
          </a:p>
          <a:p>
            <a:r>
              <a:rPr lang="en-GB" b="1" dirty="0"/>
              <a:t>Core Explosion &amp; Collision Logic:</a:t>
            </a:r>
            <a:r>
              <a:rPr lang="en-GB" dirty="0"/>
              <a:t> Explosions occur in a cross-shaped pattern, are blocked by hard walls, destroy soft walls, and eliminate enemies and the player.</a:t>
            </a:r>
          </a:p>
          <a:p>
            <a:r>
              <a:rPr lang="en-GB" b="1" dirty="0"/>
              <a:t>Level Progression:</a:t>
            </a:r>
            <a:r>
              <a:rPr lang="en-GB" dirty="0"/>
              <a:t> After all enemies are defeated, a hidden exit is revealed. Entering it loads the next sequential level.</a:t>
            </a:r>
          </a:p>
          <a:p>
            <a:r>
              <a:rPr lang="en-GB" b="1" dirty="0"/>
              <a:t>Enemy AI:</a:t>
            </a:r>
            <a:r>
              <a:rPr lang="en-GB" dirty="0"/>
              <a:t> At least one type of enemy populates the levels with basic movement patterns.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D9B80-0D3F-7C21-5D1D-E58D16FD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Bomberman</a:t>
            </a:r>
            <a:endParaRPr lang="en-GB" noProof="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861B78-51DA-CD04-9048-420D7E32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  <a:defRPr/>
            </a:pPr>
            <a:r>
              <a:rPr lang="en-GB" noProof="0" dirty="0">
                <a:solidFill>
                  <a:prstClr val="black"/>
                </a:solidFill>
              </a:rPr>
              <a:t>assr1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62B8-D750-25E9-C01E-56B57369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D6D940D-6D44-4DF9-9322-B4B11F7EDCD0}" type="slidenum">
              <a:rPr kumimoji="0" lang="en-GB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6100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2264-5702-2A17-3D5B-033E23D1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Essential Requirements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175CF-D8D1-A453-4ACE-33C5AC78CFE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b="1" dirty="0"/>
              <a:t>Power-up System:</a:t>
            </a:r>
            <a:r>
              <a:rPr lang="en-GB" dirty="0"/>
              <a:t> Classic power-ups (e.g., extra bombs, increased explosion range) are hidden within soft walls.</a:t>
            </a:r>
          </a:p>
          <a:p>
            <a:r>
              <a:rPr lang="en-GB" b="1" dirty="0"/>
              <a:t>Save Game Feature:</a:t>
            </a:r>
            <a:r>
              <a:rPr lang="en-GB" dirty="0"/>
              <a:t> The game can save the player's state (current level, lives, score, power-up inventory) to a file and load it from the main menu to continue.</a:t>
            </a:r>
          </a:p>
          <a:p>
            <a:r>
              <a:rPr lang="en-GB" b="1" dirty="0"/>
              <a:t>Game Menus:</a:t>
            </a:r>
            <a:r>
              <a:rPr lang="en-GB" dirty="0"/>
              <a:t> A functional main menu with options for "New Game" and "Load Game".</a:t>
            </a:r>
          </a:p>
          <a:p>
            <a:r>
              <a:rPr lang="en-GB" b="1" dirty="0"/>
              <a:t>Level Timer System:</a:t>
            </a:r>
            <a:r>
              <a:rPr lang="en-GB" dirty="0"/>
              <a:t> Each level has a time limit. If the timer runs out, the player loses a life and the level restarts.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5B434-2C21-FBEF-B59A-140A0E95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 err="1">
                <a:solidFill>
                  <a:prstClr val="black"/>
                </a:solidFill>
              </a:rPr>
              <a:t>Bomberman</a:t>
            </a:r>
            <a:endParaRPr lang="en-GB" noProof="0" dirty="0">
              <a:solidFill>
                <a:prstClr val="black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8986E-0599-0CA3-2D81-B6FF5A51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en-GB" noProof="0" dirty="0">
                <a:solidFill>
                  <a:prstClr val="black"/>
                </a:solidFill>
              </a:rPr>
              <a:t>assr1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D71AE-3A7F-E31B-8DDF-7DBF27D1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45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D6D9-6D39-A0B7-FD79-FE3308EF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Desirable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7892A-C38B-2616-6900-1AF9C13D143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Multiple Enemy Types:</a:t>
            </a:r>
            <a:r>
              <a:rPr lang="en-GB" dirty="0"/>
              <a:t> Introduce the full roster of original enemies, each with its own distinct AI behaviour and movement speed.</a:t>
            </a:r>
          </a:p>
          <a:p>
            <a:r>
              <a:rPr lang="en-GB" b="1" dirty="0"/>
              <a:t>World Map / Level Select:</a:t>
            </a:r>
            <a:r>
              <a:rPr lang="en-GB" dirty="0"/>
              <a:t> A visual map screen that shows the player's progress through the game's worlds and allows them to replay previously completed levels.</a:t>
            </a:r>
          </a:p>
          <a:p>
            <a:r>
              <a:rPr lang="en-GB" b="1" dirty="0"/>
              <a:t>Bonus Stages:</a:t>
            </a:r>
            <a:r>
              <a:rPr lang="en-GB" dirty="0"/>
              <a:t> Interspersed between regular stages, create the classic bonus levels where the player is invincible and must destroy a wave of enemies for points.</a:t>
            </a:r>
          </a:p>
          <a:p>
            <a:r>
              <a:rPr lang="en-GB" b="1" dirty="0"/>
              <a:t>Life &amp; Scoring System:</a:t>
            </a:r>
            <a:r>
              <a:rPr lang="en-GB" dirty="0"/>
              <a:t> A proper life system where the player loses a life upon death and a scoring system that grants points for defeating enemies.</a:t>
            </a:r>
          </a:p>
          <a:p>
            <a:r>
              <a:rPr lang="en-GB" b="1" dirty="0"/>
              <a:t>Sound Design:</a:t>
            </a:r>
            <a:r>
              <a:rPr lang="en-GB" dirty="0"/>
              <a:t> Authentic chiptune music and sound effects that recreate the feel of the original NES game.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48C2F-C337-521E-7836-80453EF5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 err="1">
                <a:solidFill>
                  <a:prstClr val="black"/>
                </a:solidFill>
              </a:rPr>
              <a:t>Bomberman</a:t>
            </a:r>
            <a:endParaRPr lang="en-GB" noProof="0" dirty="0">
              <a:solidFill>
                <a:prstClr val="black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7C8DA-E73E-B0AA-6B26-AD5571C5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en-GB" noProof="0" dirty="0">
                <a:solidFill>
                  <a:prstClr val="black"/>
                </a:solidFill>
              </a:rPr>
              <a:t>assr1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39D3-938D-CDA9-B717-3765A8F1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55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C2B8-2D95-74BB-F4AC-DEED6EC6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Optional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93BA3-5CFB-A929-0513-915B7AF1DD6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Procedurally Generated Campaign:</a:t>
            </a:r>
            <a:r>
              <a:rPr lang="en-GB" dirty="0"/>
              <a:t> Instead of fixed levels, create an algorithm that generates a unique, solvable series of levels for a new campaign every time.</a:t>
            </a:r>
          </a:p>
          <a:p>
            <a:r>
              <a:rPr lang="en-GB" b="1" dirty="0"/>
              <a:t>Boss Battles:</a:t>
            </a:r>
            <a:r>
              <a:rPr lang="en-GB" dirty="0"/>
              <a:t> Design complex boss encounters at the end of each "world" (e.g., every 8 stages), requiring unique strategies to defeat.</a:t>
            </a:r>
          </a:p>
          <a:p>
            <a:r>
              <a:rPr lang="en-GB" b="1" dirty="0"/>
              <a:t>In-Game Level Editor:</a:t>
            </a:r>
            <a:r>
              <a:rPr lang="en-GB" dirty="0"/>
              <a:t> Create a user-friendly tool that allows players to design, save, and share their own custom single-player levels or full campaigns.</a:t>
            </a:r>
          </a:p>
          <a:p>
            <a:r>
              <a:rPr lang="en-GB" b="1" dirty="0"/>
              <a:t>Modern Data Persistence:</a:t>
            </a:r>
            <a:r>
              <a:rPr lang="en-GB" dirty="0"/>
              <a:t> Integrate Steam Cloud saves or a similar platform-based solution for a more robust and portable save system.</a:t>
            </a:r>
          </a:p>
          <a:p>
            <a:r>
              <a:rPr lang="en-GB" b="1" dirty="0"/>
              <a:t>Xbox Controller Support:</a:t>
            </a:r>
            <a:r>
              <a:rPr lang="en-GB" dirty="0"/>
              <a:t> Implement native support for Xbox (and other </a:t>
            </a:r>
            <a:r>
              <a:rPr lang="en-GB" dirty="0" err="1"/>
              <a:t>XInput</a:t>
            </a:r>
            <a:r>
              <a:rPr lang="en-GB" dirty="0"/>
              <a:t>-compatible) controllers for all gameplay and menu navigation.</a:t>
            </a:r>
          </a:p>
          <a:p>
            <a:r>
              <a:rPr lang="en-GB" b="1" dirty="0"/>
              <a:t>Story Cutscenes:</a:t>
            </a:r>
            <a:r>
              <a:rPr lang="en-GB" dirty="0"/>
              <a:t> Add simple, retro-style cutscenes between worlds to narrate </a:t>
            </a:r>
            <a:r>
              <a:rPr lang="en-GB" dirty="0" err="1"/>
              <a:t>Bomberman's</a:t>
            </a:r>
            <a:r>
              <a:rPr lang="en-GB" dirty="0"/>
              <a:t> quest to escape the underground maze.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F87D2-DB54-B338-69DE-C81B1A2F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 dirty="0" err="1">
                <a:solidFill>
                  <a:prstClr val="black"/>
                </a:solidFill>
              </a:rPr>
              <a:t>Bomberman</a:t>
            </a:r>
            <a:endParaRPr lang="en-GB" noProof="0" dirty="0">
              <a:solidFill>
                <a:prstClr val="black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7288A-9BCA-38F8-8268-DA640DFE8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en-GB" noProof="0" dirty="0">
                <a:solidFill>
                  <a:prstClr val="black"/>
                </a:solidFill>
              </a:rPr>
              <a:t>assr1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BAC78-4E7A-D791-54A3-74FC8F20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28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2D22322F-E79D-4BEF-8038-DE2C8F5C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90500"/>
            <a:ext cx="10036292" cy="773776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dirty="0"/>
              <a:t>Current Progress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1A6601B-A3E2-47A2-B731-4FE03C43E2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9243" y="1764139"/>
            <a:ext cx="4756714" cy="597604"/>
          </a:xfrm>
        </p:spPr>
        <p:txBody>
          <a:bodyPr rtlCol="0"/>
          <a:lstStyle/>
          <a:p>
            <a:pPr rtl="0"/>
            <a:r>
              <a:rPr lang="en-GB" dirty="0"/>
              <a:t>Essential Requirements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BAEE544-8FB3-4E56-91A9-A6964539D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9243" y="2374900"/>
            <a:ext cx="4756714" cy="3365500"/>
          </a:xfrm>
        </p:spPr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DD5DF7-575E-4C10-815E-CDBBFAB583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57467" y="1764031"/>
            <a:ext cx="4756714" cy="597604"/>
          </a:xfrm>
        </p:spPr>
        <p:txBody>
          <a:bodyPr rtlCol="0"/>
          <a:lstStyle/>
          <a:p>
            <a:pPr rtl="0"/>
            <a:r>
              <a:rPr lang="en-GB" dirty="0"/>
              <a:t>Desirable Requirements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A3939E-B573-4FB2-AD69-18C1A75F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lvl="0" rtl="0"/>
            <a:r>
              <a:rPr lang="en-GB" dirty="0" err="1"/>
              <a:t>Bomberman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F65B39-4112-473E-B203-73AC0F56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/>
          <a:p>
            <a:pPr lvl="0" rtl="0"/>
            <a:r>
              <a:rPr lang="en-GB" dirty="0"/>
              <a:t>assr1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800B7A-B486-4409-9EDD-0A7B9628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lvl="0" rtl="0"/>
            <a:fld id="{06B786C7-B8F9-4072-AAAA-17258464D730}" type="slidenum">
              <a:rPr lang="en-GB" smtClean="0"/>
              <a:pPr lvl="0" rtl="0"/>
              <a:t>7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CF183E-B803-D048-CD16-3D125AA06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57" y="2361635"/>
            <a:ext cx="5182743" cy="3867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355660-BF59-CB7B-D63F-9DBB5F3F3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73" y="2361635"/>
            <a:ext cx="4972702" cy="944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C9958A-FC95-DBA0-859C-B66C4EF10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049" y="3306171"/>
            <a:ext cx="4972702" cy="953997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CB393689-AAC4-B173-B54E-1F3702E34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2175" y="2374900"/>
            <a:ext cx="365125" cy="365125"/>
          </a:xfrm>
          <a:prstGeom prst="rect">
            <a:avLst/>
          </a:prstGeom>
        </p:spPr>
      </p:pic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0ED1F5F-D3FE-4AF5-191C-5DA2D5FE3A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32" y="3783169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28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5D9B-51D4-E63F-EDC7-4065E0C9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B6F1E3AB-1CBD-5625-8A8B-F6BFB448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90500"/>
            <a:ext cx="10036292" cy="773776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dirty="0"/>
              <a:t>Current Progress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03A489-795E-6A8A-E749-C5B5A79525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9242" y="1764139"/>
            <a:ext cx="10036291" cy="597604"/>
          </a:xfrm>
        </p:spPr>
        <p:txBody>
          <a:bodyPr rtlCol="0"/>
          <a:lstStyle/>
          <a:p>
            <a:pPr rtl="0"/>
            <a:r>
              <a:rPr lang="en-GB" dirty="0"/>
              <a:t>Optional Requirements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1C2FD4-4CC4-439E-FF6F-D81A845F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lvl="0" rtl="0"/>
            <a:r>
              <a:rPr lang="en-GB" dirty="0" err="1"/>
              <a:t>Bomberman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240914-1AF9-6F31-CE8A-57A57EFC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/>
          <a:p>
            <a:pPr lvl="0" rtl="0"/>
            <a:r>
              <a:rPr lang="en-GB" dirty="0"/>
              <a:t>assr1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4593E1-CFB8-E936-B8C9-61221F92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lvl="0" rtl="0"/>
            <a:fld id="{06B786C7-B8F9-4072-AAAA-17258464D730}" type="slidenum">
              <a:rPr lang="en-GB" smtClean="0"/>
              <a:pPr lvl="0" rtl="0"/>
              <a:t>8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E3E89-EBCE-9648-0D50-8843EE259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1" y="2547452"/>
            <a:ext cx="8126332" cy="302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15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EE5C697-26D5-4D6B-A7A4-1F144548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983" y="194783"/>
            <a:ext cx="9421177" cy="76949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Gantt Chart</a:t>
            </a:r>
            <a:endParaRPr lang="en-US"/>
          </a:p>
        </p:txBody>
      </p:sp>
      <p:pic>
        <p:nvPicPr>
          <p:cNvPr id="11" name="Picture 10" descr="A graph with a red line&#10;&#10;AI-generated content may be incorrect.">
            <a:extLst>
              <a:ext uri="{FF2B5EF4-FFF2-40B4-BE49-F238E27FC236}">
                <a16:creationId xmlns:a16="http://schemas.microsoft.com/office/drawing/2014/main" id="{BF533340-A3C6-E81C-8988-79B7EFFD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32" y="1565796"/>
            <a:ext cx="9588502" cy="4314825"/>
          </a:xfrm>
          <a:prstGeom prst="rect">
            <a:avLst/>
          </a:prstGeom>
          <a:noFill/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EFF5B3-978F-89DF-EACD-5C69099C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kern="1200" cap="none" spc="0" normalizeH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Bomberman</a:t>
            </a:r>
            <a:endParaRPr lang="en-GB" b="0" i="0" u="none" strike="noStrike" kern="120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818FF7D-BDEB-4F80-9678-A1F53FF8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  <a:defRPr/>
            </a:pPr>
            <a:r>
              <a:rPr lang="en-GB" noProof="0" dirty="0">
                <a:solidFill>
                  <a:prstClr val="black"/>
                </a:solidFill>
              </a:rPr>
              <a:t>assr1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46B0E-5B42-BA5F-6431-E264B494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8182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27D4-A6BE-9B67-3907-C3DC0B76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Bomberman</a:t>
            </a:r>
            <a:r>
              <a:rPr lang="en-GB" dirty="0"/>
              <a:t> (Original vs Clone)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514178-E82C-3BE3-BDBD-C601CB8A774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10540" y="1924334"/>
            <a:ext cx="5558187" cy="42100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73BF5-8A18-F0F7-517B-D79F35AA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 err="1">
                <a:solidFill>
                  <a:prstClr val="black"/>
                </a:solidFill>
              </a:rPr>
              <a:t>Bomberman</a:t>
            </a:r>
            <a:endParaRPr lang="en-GB" noProof="0" dirty="0">
              <a:solidFill>
                <a:prstClr val="black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CEF2A-93E3-0A35-1E0A-3D1FAB48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en-GB" noProof="0" dirty="0">
                <a:solidFill>
                  <a:prstClr val="black"/>
                </a:solidFill>
              </a:rPr>
              <a:t>assr1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348D1-EF2B-7BA9-979E-EF56D72E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5286C6-187E-8CE7-384D-3FF131904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66" y="1924334"/>
            <a:ext cx="5399594" cy="4210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E749AC-5CAC-7441-6F23-1DDB3D218EEA}"/>
              </a:ext>
            </a:extLst>
          </p:cNvPr>
          <p:cNvSpPr txBox="1"/>
          <p:nvPr/>
        </p:nvSpPr>
        <p:spPr>
          <a:xfrm>
            <a:off x="482648" y="1555002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Original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1C9D0-6321-A64E-C669-8B0160D49858}"/>
              </a:ext>
            </a:extLst>
          </p:cNvPr>
          <p:cNvSpPr txBox="1"/>
          <p:nvPr/>
        </p:nvSpPr>
        <p:spPr>
          <a:xfrm>
            <a:off x="6197199" y="1555002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Clone</a:t>
            </a:r>
          </a:p>
        </p:txBody>
      </p:sp>
    </p:spTree>
    <p:extLst>
      <p:ext uri="{BB962C8B-B14F-4D97-AF65-F5344CB8AC3E}">
        <p14:creationId xmlns:p14="http://schemas.microsoft.com/office/powerpoint/2010/main" val="1490530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30761B21-88ED-449E-B2B9-3FC40844C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01" y="4947313"/>
            <a:ext cx="7700617" cy="1409037"/>
          </a:xfrm>
        </p:spPr>
        <p:txBody>
          <a:bodyPr rtlCol="0"/>
          <a:lstStyle/>
          <a:p>
            <a:pPr rtl="0"/>
            <a:r>
              <a:rPr lang="en-GB"/>
              <a:t>Thank you</a:t>
            </a:r>
          </a:p>
        </p:txBody>
      </p:sp>
      <p:sp>
        <p:nvSpPr>
          <p:cNvPr id="33" name="Subtitle 32">
            <a:extLst>
              <a:ext uri="{FF2B5EF4-FFF2-40B4-BE49-F238E27FC236}">
                <a16:creationId xmlns:a16="http://schemas.microsoft.com/office/drawing/2014/main" id="{0EEAA874-288B-4330-9FA4-F1144ACD4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252" y="386989"/>
            <a:ext cx="2443495" cy="3758334"/>
          </a:xfrm>
        </p:spPr>
        <p:txBody>
          <a:bodyPr rtlCol="0"/>
          <a:lstStyle/>
          <a:p>
            <a:pPr rtl="0"/>
            <a:r>
              <a:rPr lang="en-GB" dirty="0"/>
              <a:t>Aaren Sherwin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ASSR1</a:t>
            </a:r>
          </a:p>
          <a:p>
            <a:pPr rtl="0"/>
            <a:endParaRPr lang="en-GB" dirty="0"/>
          </a:p>
          <a:p>
            <a:pPr rtl="0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87279-B48F-43C3-91FA-09BD7EA3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lvl="0" rtl="0"/>
            <a:fld id="{D39F39FF-F5CB-4ACA-9B46-4CCF89ECA75F}" type="slidenum">
              <a:rPr lang="en-GB" smtClean="0"/>
              <a:pPr lvl="0" rtl="0"/>
              <a:t>11</a:t>
            </a:fld>
            <a:endParaRPr lang="en-GB"/>
          </a:p>
        </p:txBody>
      </p:sp>
      <p:pic>
        <p:nvPicPr>
          <p:cNvPr id="8" name="Picture Placeholder 7" descr="A video game with a green area&#10;&#10;AI-generated content may be incorrect.">
            <a:extLst>
              <a:ext uri="{FF2B5EF4-FFF2-40B4-BE49-F238E27FC236}">
                <a16:creationId xmlns:a16="http://schemas.microsoft.com/office/drawing/2014/main" id="{06936166-1A13-F2E2-BA81-19BD2F18AA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5339" b="5339"/>
          <a:stretch>
            <a:fillRect/>
          </a:stretch>
        </p:blipFill>
        <p:spPr/>
      </p:pic>
      <p:pic>
        <p:nvPicPr>
          <p:cNvPr id="26" name="Picture 25" descr="A cartoon character with a face&#10;&#10;AI-generated content may be incorrect.">
            <a:extLst>
              <a:ext uri="{FF2B5EF4-FFF2-40B4-BE49-F238E27FC236}">
                <a16:creationId xmlns:a16="http://schemas.microsoft.com/office/drawing/2014/main" id="{F0CA31A2-5335-53CC-15E4-778D77812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122" y="2645188"/>
            <a:ext cx="2674806" cy="300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1127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626_TF89117832_Win32" id="{DB0A3224-88B5-430B-9AD1-D790B94EF5D8}" vid="{070D6B8A-04B9-4AE4-ADE6-362B2ED255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757C30-AE9A-4680-90EB-19D282EC2B7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5CCB28C-7D26-4A36-9CFC-D739C28F3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F0BF08-C674-44E3-8BFC-85BC65E09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Colour block design</Template>
  <TotalTime>60</TotalTime>
  <Words>630</Words>
  <Application>Microsoft Office PowerPoint</Application>
  <PresentationFormat>Widescreen</PresentationFormat>
  <Paragraphs>73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Calibri</vt:lpstr>
      <vt:lpstr>ColorBlockVTI</vt:lpstr>
      <vt:lpstr>Retro Game Clone</vt:lpstr>
      <vt:lpstr>Aim of the project</vt:lpstr>
      <vt:lpstr>Essential Requirements</vt:lpstr>
      <vt:lpstr>Essential Requirements (cont.)</vt:lpstr>
      <vt:lpstr>Desirable Requirements</vt:lpstr>
      <vt:lpstr>Optional Requirements</vt:lpstr>
      <vt:lpstr>Current Progress</vt:lpstr>
      <vt:lpstr>Current Progress</vt:lpstr>
      <vt:lpstr>Gantt Chart</vt:lpstr>
      <vt:lpstr>Bomberman (Original vs Clone)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Aaren Sherwin</dc:creator>
  <cp:lastModifiedBy>Aaren Sherwin</cp:lastModifiedBy>
  <cp:revision>1</cp:revision>
  <dcterms:created xsi:type="dcterms:W3CDTF">2025-08-03T05:49:44Z</dcterms:created>
  <dcterms:modified xsi:type="dcterms:W3CDTF">2025-08-03T06:50:17Z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